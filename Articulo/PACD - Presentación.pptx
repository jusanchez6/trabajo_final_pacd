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anva Sans Bold" charset="1" panose="020B0803030501040103"/>
      <p:regular r:id="rId22"/>
    </p:embeddedFont>
    <p:embeddedFont>
      <p:font typeface="Open Sans" charset="1" panose="020B0606030504020204"/>
      <p:regular r:id="rId23"/>
    </p:embeddedFont>
    <p:embeddedFont>
      <p:font typeface="Canva Sans" charset="1" panose="020B05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16" Target="../media/image19.png" Type="http://schemas.openxmlformats.org/officeDocument/2006/relationships/image"/><Relationship Id="rId17" Target="../media/image20.svg" Type="http://schemas.openxmlformats.org/officeDocument/2006/relationships/image"/><Relationship Id="rId2" Target="../media/image1.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200900"/>
            <a:ext cx="18288000" cy="3086100"/>
          </a:xfrm>
          <a:custGeom>
            <a:avLst/>
            <a:gdLst/>
            <a:ahLst/>
            <a:cxnLst/>
            <a:rect r="r" b="b" t="t" l="l"/>
            <a:pathLst>
              <a:path h="3086100" w="18288000">
                <a:moveTo>
                  <a:pt x="0" y="0"/>
                </a:moveTo>
                <a:lnTo>
                  <a:pt x="18288000" y="0"/>
                </a:lnTo>
                <a:lnTo>
                  <a:pt x="18288000" y="3086100"/>
                </a:lnTo>
                <a:lnTo>
                  <a:pt x="0" y="3086100"/>
                </a:lnTo>
                <a:lnTo>
                  <a:pt x="0" y="0"/>
                </a:lnTo>
                <a:close/>
              </a:path>
            </a:pathLst>
          </a:custGeom>
          <a:blipFill>
            <a:blip r:embed="rId2"/>
            <a:stretch>
              <a:fillRect l="0" t="0" r="0" b="0"/>
            </a:stretch>
          </a:blipFill>
        </p:spPr>
      </p:sp>
      <p:sp>
        <p:nvSpPr>
          <p:cNvPr name="TextBox 3" id="3"/>
          <p:cNvSpPr txBox="true"/>
          <p:nvPr/>
        </p:nvSpPr>
        <p:spPr>
          <a:xfrm rot="0">
            <a:off x="708311" y="1581657"/>
            <a:ext cx="16871378" cy="4661860"/>
          </a:xfrm>
          <a:prstGeom prst="rect">
            <a:avLst/>
          </a:prstGeom>
        </p:spPr>
        <p:txBody>
          <a:bodyPr anchor="t" rtlCol="false" tIns="0" lIns="0" bIns="0" rIns="0">
            <a:spAutoFit/>
          </a:bodyPr>
          <a:lstStyle/>
          <a:p>
            <a:pPr algn="ctr">
              <a:lnSpc>
                <a:spcPts val="9305"/>
              </a:lnSpc>
            </a:pPr>
            <a:r>
              <a:rPr lang="en-US" sz="6646" b="true">
                <a:solidFill>
                  <a:srgbClr val="000000"/>
                </a:solidFill>
                <a:latin typeface="Canva Sans Bold"/>
                <a:ea typeface="Canva Sans Bold"/>
                <a:cs typeface="Canva Sans Bold"/>
                <a:sym typeface="Canva Sans Bold"/>
              </a:rPr>
              <a:t>Spectral Spacing Estimation an</a:t>
            </a:r>
            <a:r>
              <a:rPr lang="en-US" b="true" sz="6646">
                <a:solidFill>
                  <a:srgbClr val="000000"/>
                </a:solidFill>
                <a:latin typeface="Canva Sans Bold"/>
                <a:ea typeface="Canva Sans Bold"/>
                <a:cs typeface="Canva Sans Bold"/>
                <a:sym typeface="Canva Sans Bold"/>
              </a:rPr>
              <a:t>d ICI Detection in Gridless WDM Systems Using Cumulant-Based Features and Machine Learning</a:t>
            </a:r>
          </a:p>
        </p:txBody>
      </p:sp>
      <p:sp>
        <p:nvSpPr>
          <p:cNvPr name="TextBox 4" id="4"/>
          <p:cNvSpPr txBox="true"/>
          <p:nvPr/>
        </p:nvSpPr>
        <p:spPr>
          <a:xfrm rot="0">
            <a:off x="1028700" y="7853319"/>
            <a:ext cx="7535173" cy="1695538"/>
          </a:xfrm>
          <a:prstGeom prst="rect">
            <a:avLst/>
          </a:prstGeom>
        </p:spPr>
        <p:txBody>
          <a:bodyPr anchor="t" rtlCol="false" tIns="0" lIns="0" bIns="0" rIns="0">
            <a:spAutoFit/>
          </a:bodyPr>
          <a:lstStyle/>
          <a:p>
            <a:pPr algn="ctr">
              <a:lnSpc>
                <a:spcPts val="6830"/>
              </a:lnSpc>
            </a:pPr>
            <a:r>
              <a:rPr lang="en-US" sz="4878" b="true">
                <a:solidFill>
                  <a:srgbClr val="F8F9F9"/>
                </a:solidFill>
                <a:latin typeface="Canva Sans Bold"/>
                <a:ea typeface="Canva Sans Bold"/>
                <a:cs typeface="Canva Sans Bold"/>
                <a:sym typeface="Canva Sans Bold"/>
              </a:rPr>
              <a:t>Valentina Jaramillo</a:t>
            </a:r>
          </a:p>
          <a:p>
            <a:pPr algn="ctr">
              <a:lnSpc>
                <a:spcPts val="6830"/>
              </a:lnSpc>
            </a:pPr>
            <a:r>
              <a:rPr lang="en-US" sz="4878" b="true">
                <a:solidFill>
                  <a:srgbClr val="F8F9F9"/>
                </a:solidFill>
                <a:latin typeface="Canva Sans Bold"/>
                <a:ea typeface="Canva Sans Bold"/>
                <a:cs typeface="Canva Sans Bold"/>
                <a:sym typeface="Canva Sans Bold"/>
              </a:rPr>
              <a:t>Julián Sánchez</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sp>
        <p:nvSpPr>
          <p:cNvPr name="Freeform 3" id="3"/>
          <p:cNvSpPr/>
          <p:nvPr/>
        </p:nvSpPr>
        <p:spPr>
          <a:xfrm flipH="false" flipV="false" rot="0">
            <a:off x="1028700" y="2954063"/>
            <a:ext cx="3808055" cy="4629618"/>
          </a:xfrm>
          <a:custGeom>
            <a:avLst/>
            <a:gdLst/>
            <a:ahLst/>
            <a:cxnLst/>
            <a:rect r="r" b="b" t="t" l="l"/>
            <a:pathLst>
              <a:path h="4629618" w="3808055">
                <a:moveTo>
                  <a:pt x="0" y="0"/>
                </a:moveTo>
                <a:lnTo>
                  <a:pt x="3808055" y="0"/>
                </a:lnTo>
                <a:lnTo>
                  <a:pt x="3808055" y="4629618"/>
                </a:lnTo>
                <a:lnTo>
                  <a:pt x="0" y="4629618"/>
                </a:lnTo>
                <a:lnTo>
                  <a:pt x="0" y="0"/>
                </a:lnTo>
                <a:close/>
              </a:path>
            </a:pathLst>
          </a:custGeom>
          <a:blipFill>
            <a:blip r:embed="rId3"/>
            <a:stretch>
              <a:fillRect l="0" t="0" r="0" b="0"/>
            </a:stretch>
          </a:blipFill>
        </p:spPr>
      </p:sp>
      <p:sp>
        <p:nvSpPr>
          <p:cNvPr name="Freeform 4" id="4"/>
          <p:cNvSpPr/>
          <p:nvPr/>
        </p:nvSpPr>
        <p:spPr>
          <a:xfrm flipH="false" flipV="false" rot="0">
            <a:off x="7442005" y="2954063"/>
            <a:ext cx="3834991" cy="4629618"/>
          </a:xfrm>
          <a:custGeom>
            <a:avLst/>
            <a:gdLst/>
            <a:ahLst/>
            <a:cxnLst/>
            <a:rect r="r" b="b" t="t" l="l"/>
            <a:pathLst>
              <a:path h="4629618" w="3834991">
                <a:moveTo>
                  <a:pt x="0" y="0"/>
                </a:moveTo>
                <a:lnTo>
                  <a:pt x="3834991" y="0"/>
                </a:lnTo>
                <a:lnTo>
                  <a:pt x="3834991" y="4629618"/>
                </a:lnTo>
                <a:lnTo>
                  <a:pt x="0" y="4629618"/>
                </a:lnTo>
                <a:lnTo>
                  <a:pt x="0" y="0"/>
                </a:lnTo>
                <a:close/>
              </a:path>
            </a:pathLst>
          </a:custGeom>
          <a:blipFill>
            <a:blip r:embed="rId4"/>
            <a:stretch>
              <a:fillRect l="-2371" t="0" r="0" b="-3095"/>
            </a:stretch>
          </a:blipFill>
        </p:spPr>
      </p:sp>
      <p:sp>
        <p:nvSpPr>
          <p:cNvPr name="Freeform 5" id="5"/>
          <p:cNvSpPr/>
          <p:nvPr/>
        </p:nvSpPr>
        <p:spPr>
          <a:xfrm flipH="false" flipV="false" rot="0">
            <a:off x="4836755" y="5268872"/>
            <a:ext cx="2392532" cy="471030"/>
          </a:xfrm>
          <a:custGeom>
            <a:avLst/>
            <a:gdLst/>
            <a:ahLst/>
            <a:cxnLst/>
            <a:rect r="r" b="b" t="t" l="l"/>
            <a:pathLst>
              <a:path h="471030" w="2392532">
                <a:moveTo>
                  <a:pt x="0" y="0"/>
                </a:moveTo>
                <a:lnTo>
                  <a:pt x="2392532" y="0"/>
                </a:lnTo>
                <a:lnTo>
                  <a:pt x="2392532" y="471030"/>
                </a:lnTo>
                <a:lnTo>
                  <a:pt x="0" y="471030"/>
                </a:lnTo>
                <a:lnTo>
                  <a:pt x="0" y="0"/>
                </a:lnTo>
                <a:close/>
              </a:path>
            </a:pathLst>
          </a:custGeom>
          <a:blipFill>
            <a:blip r:embed="rId5"/>
            <a:stretch>
              <a:fillRect l="0" t="0" r="0" b="0"/>
            </a:stretch>
          </a:blipFill>
        </p:spPr>
      </p:sp>
      <p:sp>
        <p:nvSpPr>
          <p:cNvPr name="TextBox 6" id="6"/>
          <p:cNvSpPr txBox="true"/>
          <p:nvPr/>
        </p:nvSpPr>
        <p:spPr>
          <a:xfrm rot="0">
            <a:off x="1028700" y="933450"/>
            <a:ext cx="4091464"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Introduction</a:t>
            </a:r>
          </a:p>
        </p:txBody>
      </p:sp>
      <p:sp>
        <p:nvSpPr>
          <p:cNvPr name="TextBox 7" id="7"/>
          <p:cNvSpPr txBox="true"/>
          <p:nvPr/>
        </p:nvSpPr>
        <p:spPr>
          <a:xfrm rot="0">
            <a:off x="11932516" y="3716853"/>
            <a:ext cx="5949600" cy="3517918"/>
          </a:xfrm>
          <a:prstGeom prst="rect">
            <a:avLst/>
          </a:prstGeom>
        </p:spPr>
        <p:txBody>
          <a:bodyPr anchor="t" rtlCol="false" tIns="0" lIns="0" bIns="0" rIns="0">
            <a:spAutoFit/>
          </a:bodyPr>
          <a:lstStyle/>
          <a:p>
            <a:pPr algn="l">
              <a:lnSpc>
                <a:spcPts val="4024"/>
              </a:lnSpc>
              <a:spcBef>
                <a:spcPct val="0"/>
              </a:spcBef>
            </a:pPr>
            <a:r>
              <a:rPr lang="en-US" sz="2874">
                <a:solidFill>
                  <a:srgbClr val="000000"/>
                </a:solidFill>
                <a:latin typeface="Open Sans"/>
                <a:ea typeface="Open Sans"/>
                <a:cs typeface="Open Sans"/>
                <a:sym typeface="Open Sans"/>
              </a:rPr>
              <a:t>The estimation and </a:t>
            </a:r>
          </a:p>
          <a:p>
            <a:pPr algn="l">
              <a:lnSpc>
                <a:spcPts val="4024"/>
              </a:lnSpc>
              <a:spcBef>
                <a:spcPct val="0"/>
              </a:spcBef>
            </a:pPr>
            <a:r>
              <a:rPr lang="en-US" sz="2874">
                <a:solidFill>
                  <a:srgbClr val="000000"/>
                </a:solidFill>
                <a:latin typeface="Open Sans"/>
                <a:ea typeface="Open Sans"/>
                <a:cs typeface="Open Sans"/>
                <a:sym typeface="Open Sans"/>
              </a:rPr>
              <a:t>mitigation of linear ICI </a:t>
            </a:r>
          </a:p>
          <a:p>
            <a:pPr algn="l">
              <a:lnSpc>
                <a:spcPts val="4024"/>
              </a:lnSpc>
              <a:spcBef>
                <a:spcPct val="0"/>
              </a:spcBef>
            </a:pPr>
            <a:r>
              <a:rPr lang="en-US" sz="2874">
                <a:solidFill>
                  <a:srgbClr val="000000"/>
                </a:solidFill>
                <a:latin typeface="Open Sans"/>
                <a:ea typeface="Open Sans"/>
                <a:cs typeface="Open Sans"/>
                <a:sym typeface="Open Sans"/>
              </a:rPr>
              <a:t>without adjacent-channel </a:t>
            </a:r>
          </a:p>
          <a:p>
            <a:pPr algn="l">
              <a:lnSpc>
                <a:spcPts val="4024"/>
              </a:lnSpc>
              <a:spcBef>
                <a:spcPct val="0"/>
              </a:spcBef>
            </a:pPr>
            <a:r>
              <a:rPr lang="en-US" sz="2874">
                <a:solidFill>
                  <a:srgbClr val="000000"/>
                </a:solidFill>
                <a:latin typeface="Open Sans"/>
                <a:ea typeface="Open Sans"/>
                <a:cs typeface="Open Sans"/>
                <a:sym typeface="Open Sans"/>
              </a:rPr>
              <a:t>information is challenging </a:t>
            </a:r>
          </a:p>
          <a:p>
            <a:pPr algn="l">
              <a:lnSpc>
                <a:spcPts val="4024"/>
              </a:lnSpc>
              <a:spcBef>
                <a:spcPct val="0"/>
              </a:spcBef>
            </a:pPr>
            <a:r>
              <a:rPr lang="en-US" sz="2874">
                <a:solidFill>
                  <a:srgbClr val="000000"/>
                </a:solidFill>
                <a:latin typeface="Open Sans"/>
                <a:ea typeface="Open Sans"/>
                <a:cs typeface="Open Sans"/>
                <a:sym typeface="Open Sans"/>
              </a:rPr>
              <a:t>because it behaves like </a:t>
            </a:r>
          </a:p>
          <a:p>
            <a:pPr algn="l">
              <a:lnSpc>
                <a:spcPts val="4024"/>
              </a:lnSpc>
              <a:spcBef>
                <a:spcPct val="0"/>
              </a:spcBef>
            </a:pPr>
            <a:r>
              <a:rPr lang="en-US" sz="2874">
                <a:solidFill>
                  <a:srgbClr val="000000"/>
                </a:solidFill>
                <a:latin typeface="Open Sans"/>
                <a:ea typeface="Open Sans"/>
                <a:cs typeface="Open Sans"/>
                <a:sym typeface="Open Sans"/>
              </a:rPr>
              <a:t>additive white Gaussian </a:t>
            </a:r>
          </a:p>
          <a:p>
            <a:pPr algn="l">
              <a:lnSpc>
                <a:spcPts val="4024"/>
              </a:lnSpc>
              <a:spcBef>
                <a:spcPct val="0"/>
              </a:spcBef>
            </a:pPr>
            <a:r>
              <a:rPr lang="en-US" sz="2874">
                <a:solidFill>
                  <a:srgbClr val="000000"/>
                </a:solidFill>
                <a:latin typeface="Open Sans"/>
                <a:ea typeface="Open Sans"/>
                <a:cs typeface="Open Sans"/>
                <a:sym typeface="Open Sans"/>
              </a:rPr>
              <a:t>noise (AWGN)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sp>
        <p:nvSpPr>
          <p:cNvPr name="TextBox 3" id="3"/>
          <p:cNvSpPr txBox="true"/>
          <p:nvPr/>
        </p:nvSpPr>
        <p:spPr>
          <a:xfrm rot="0">
            <a:off x="1028700" y="933450"/>
            <a:ext cx="5925979"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STATE OF THE ART</a:t>
            </a:r>
          </a:p>
        </p:txBody>
      </p:sp>
      <p:sp>
        <p:nvSpPr>
          <p:cNvPr name="TextBox 4" id="4"/>
          <p:cNvSpPr txBox="true"/>
          <p:nvPr/>
        </p:nvSpPr>
        <p:spPr>
          <a:xfrm rot="0">
            <a:off x="936537" y="2436119"/>
            <a:ext cx="16905492" cy="4781550"/>
          </a:xfrm>
          <a:prstGeom prst="rect">
            <a:avLst/>
          </a:prstGeom>
        </p:spPr>
        <p:txBody>
          <a:bodyPr anchor="t" rtlCol="false" tIns="0" lIns="0" bIns="0" rIns="0">
            <a:spAutoFit/>
          </a:bodyPr>
          <a:lstStyle/>
          <a:p>
            <a:pPr algn="l">
              <a:lnSpc>
                <a:spcPts val="4200"/>
              </a:lnSpc>
            </a:pPr>
            <a:r>
              <a:rPr lang="en-US" sz="3000">
                <a:solidFill>
                  <a:srgbClr val="000000"/>
                </a:solidFill>
                <a:latin typeface="Canva Sans"/>
                <a:ea typeface="Canva Sans"/>
                <a:cs typeface="Canva Sans"/>
                <a:sym typeface="Canva Sans"/>
              </a:rPr>
              <a:t>[1] A. Swami and B. M. Sadler, "Hierarchical Digital Modulation Classification Using Cumulants," IEEE Transactions on Communications, 2000.</a:t>
            </a:r>
          </a:p>
          <a:p>
            <a:pPr algn="l">
              <a:lnSpc>
                <a:spcPts val="4200"/>
              </a:lnSpc>
            </a:pPr>
          </a:p>
          <a:p>
            <a:pPr algn="l">
              <a:lnSpc>
                <a:spcPts val="4200"/>
              </a:lnSpc>
            </a:pPr>
            <a:r>
              <a:rPr lang="en-US" sz="3000">
                <a:solidFill>
                  <a:srgbClr val="000000"/>
                </a:solidFill>
                <a:latin typeface="Canva Sans"/>
                <a:ea typeface="Canva Sans"/>
                <a:cs typeface="Canva Sans"/>
                <a:sym typeface="Canva Sans"/>
              </a:rPr>
              <a:t>[2] H. H. Khallaf, "Modulation Classification Using Higher Order Cumulants," IEEE MILCOM, 2005.</a:t>
            </a:r>
          </a:p>
          <a:p>
            <a:pPr algn="l">
              <a:lnSpc>
                <a:spcPts val="4200"/>
              </a:lnSpc>
            </a:pPr>
          </a:p>
          <a:p>
            <a:pPr algn="l">
              <a:lnSpc>
                <a:spcPts val="4200"/>
              </a:lnSpc>
            </a:pPr>
            <a:r>
              <a:rPr lang="en-US" sz="3000">
                <a:solidFill>
                  <a:srgbClr val="000000"/>
                </a:solidFill>
                <a:latin typeface="Canva Sans"/>
                <a:ea typeface="Canva Sans"/>
                <a:cs typeface="Canva Sans"/>
                <a:sym typeface="Canva Sans"/>
              </a:rPr>
              <a:t>[3] </a:t>
            </a:r>
            <a:r>
              <a:rPr lang="en-US" sz="3000">
                <a:solidFill>
                  <a:srgbClr val="000000"/>
                </a:solidFill>
                <a:latin typeface="Canva Sans"/>
                <a:ea typeface="Canva Sans"/>
                <a:cs typeface="Canva Sans"/>
                <a:sym typeface="Canva Sans"/>
              </a:rPr>
              <a:t> Wenjie Sun, Shihang Lu, et al, “Efficient Recognition for MQAM Signal Using </a:t>
            </a:r>
          </a:p>
          <a:p>
            <a:pPr algn="l">
              <a:lnSpc>
                <a:spcPts val="4200"/>
              </a:lnSpc>
            </a:pPr>
            <a:r>
              <a:rPr lang="en-US" sz="3000">
                <a:solidFill>
                  <a:srgbClr val="000000"/>
                </a:solidFill>
                <a:latin typeface="Canva Sans"/>
                <a:ea typeface="Canva Sans"/>
                <a:cs typeface="Canva Sans"/>
                <a:sym typeface="Canva Sans"/>
              </a:rPr>
              <a:t>Feature Extraction”</a:t>
            </a:r>
          </a:p>
          <a:p>
            <a:pPr algn="l">
              <a:lnSpc>
                <a:spcPts val="420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sp>
        <p:nvSpPr>
          <p:cNvPr name="Freeform 3" id="3"/>
          <p:cNvSpPr/>
          <p:nvPr/>
        </p:nvSpPr>
        <p:spPr>
          <a:xfrm flipH="false" flipV="false" rot="0">
            <a:off x="2816781" y="2749046"/>
            <a:ext cx="11301259" cy="4788908"/>
          </a:xfrm>
          <a:custGeom>
            <a:avLst/>
            <a:gdLst/>
            <a:ahLst/>
            <a:cxnLst/>
            <a:rect r="r" b="b" t="t" l="l"/>
            <a:pathLst>
              <a:path h="4788908" w="11301259">
                <a:moveTo>
                  <a:pt x="0" y="0"/>
                </a:moveTo>
                <a:lnTo>
                  <a:pt x="11301259" y="0"/>
                </a:lnTo>
                <a:lnTo>
                  <a:pt x="11301259" y="4788908"/>
                </a:lnTo>
                <a:lnTo>
                  <a:pt x="0" y="4788908"/>
                </a:lnTo>
                <a:lnTo>
                  <a:pt x="0" y="0"/>
                </a:lnTo>
                <a:close/>
              </a:path>
            </a:pathLst>
          </a:custGeom>
          <a:blipFill>
            <a:blip r:embed="rId3"/>
            <a:stretch>
              <a:fillRect l="0" t="0" r="0" b="0"/>
            </a:stretch>
          </a:blipFill>
        </p:spPr>
      </p:sp>
      <p:sp>
        <p:nvSpPr>
          <p:cNvPr name="TextBox 4" id="4"/>
          <p:cNvSpPr txBox="true"/>
          <p:nvPr/>
        </p:nvSpPr>
        <p:spPr>
          <a:xfrm rot="0">
            <a:off x="1028700" y="933450"/>
            <a:ext cx="3576161"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PROPOSAL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sp>
        <p:nvSpPr>
          <p:cNvPr name="Freeform 3" id="3"/>
          <p:cNvSpPr/>
          <p:nvPr/>
        </p:nvSpPr>
        <p:spPr>
          <a:xfrm flipH="false" flipV="false" rot="0">
            <a:off x="1220332" y="2579838"/>
            <a:ext cx="2239752" cy="1998766"/>
          </a:xfrm>
          <a:custGeom>
            <a:avLst/>
            <a:gdLst/>
            <a:ahLst/>
            <a:cxnLst/>
            <a:rect r="r" b="b" t="t" l="l"/>
            <a:pathLst>
              <a:path h="1998766" w="2239752">
                <a:moveTo>
                  <a:pt x="0" y="0"/>
                </a:moveTo>
                <a:lnTo>
                  <a:pt x="2239752" y="0"/>
                </a:lnTo>
                <a:lnTo>
                  <a:pt x="2239752" y="1998766"/>
                </a:lnTo>
                <a:lnTo>
                  <a:pt x="0" y="1998766"/>
                </a:lnTo>
                <a:lnTo>
                  <a:pt x="0" y="0"/>
                </a:lnTo>
                <a:close/>
              </a:path>
            </a:pathLst>
          </a:custGeom>
          <a:blipFill>
            <a:blip r:embed="rId3"/>
            <a:stretch>
              <a:fillRect l="0" t="0" r="0" b="0"/>
            </a:stretch>
          </a:blipFill>
        </p:spPr>
      </p:sp>
      <p:sp>
        <p:nvSpPr>
          <p:cNvPr name="Freeform 4" id="4"/>
          <p:cNvSpPr/>
          <p:nvPr/>
        </p:nvSpPr>
        <p:spPr>
          <a:xfrm flipH="false" flipV="false" rot="0">
            <a:off x="5269196" y="3385531"/>
            <a:ext cx="7609265" cy="387381"/>
          </a:xfrm>
          <a:custGeom>
            <a:avLst/>
            <a:gdLst/>
            <a:ahLst/>
            <a:cxnLst/>
            <a:rect r="r" b="b" t="t" l="l"/>
            <a:pathLst>
              <a:path h="387381" w="7609265">
                <a:moveTo>
                  <a:pt x="0" y="0"/>
                </a:moveTo>
                <a:lnTo>
                  <a:pt x="7609265" y="0"/>
                </a:lnTo>
                <a:lnTo>
                  <a:pt x="7609265" y="387381"/>
                </a:lnTo>
                <a:lnTo>
                  <a:pt x="0" y="3873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646681" y="3199859"/>
            <a:ext cx="1432015" cy="671819"/>
            <a:chOff x="0" y="0"/>
            <a:chExt cx="1222322" cy="573443"/>
          </a:xfrm>
        </p:grpSpPr>
        <p:sp>
          <p:nvSpPr>
            <p:cNvPr name="Freeform 6" id="6"/>
            <p:cNvSpPr/>
            <p:nvPr/>
          </p:nvSpPr>
          <p:spPr>
            <a:xfrm flipH="false" flipV="false" rot="0">
              <a:off x="0" y="0"/>
              <a:ext cx="1222322" cy="573443"/>
            </a:xfrm>
            <a:custGeom>
              <a:avLst/>
              <a:gdLst/>
              <a:ahLst/>
              <a:cxnLst/>
              <a:rect r="r" b="b" t="t" l="l"/>
              <a:pathLst>
                <a:path h="573443" w="1222322">
                  <a:moveTo>
                    <a:pt x="1222322" y="286722"/>
                  </a:moveTo>
                  <a:lnTo>
                    <a:pt x="815922" y="0"/>
                  </a:lnTo>
                  <a:lnTo>
                    <a:pt x="815922" y="203200"/>
                  </a:lnTo>
                  <a:lnTo>
                    <a:pt x="0" y="203200"/>
                  </a:lnTo>
                  <a:lnTo>
                    <a:pt x="0" y="370243"/>
                  </a:lnTo>
                  <a:lnTo>
                    <a:pt x="815922" y="370243"/>
                  </a:lnTo>
                  <a:lnTo>
                    <a:pt x="815922" y="573443"/>
                  </a:lnTo>
                  <a:lnTo>
                    <a:pt x="1222322" y="286722"/>
                  </a:lnTo>
                  <a:close/>
                </a:path>
              </a:pathLst>
            </a:custGeom>
            <a:solidFill>
              <a:srgbClr val="000000"/>
            </a:solidFill>
          </p:spPr>
        </p:sp>
        <p:sp>
          <p:nvSpPr>
            <p:cNvPr name="TextBox 7" id="7"/>
            <p:cNvSpPr txBox="true"/>
            <p:nvPr/>
          </p:nvSpPr>
          <p:spPr>
            <a:xfrm>
              <a:off x="0" y="165100"/>
              <a:ext cx="1120722" cy="205143"/>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0" y="933450"/>
            <a:ext cx="12329959"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PROPOSAL-Featured Extraction</a:t>
            </a:r>
          </a:p>
        </p:txBody>
      </p:sp>
      <p:sp>
        <p:nvSpPr>
          <p:cNvPr name="TextBox 9" id="9"/>
          <p:cNvSpPr txBox="true"/>
          <p:nvPr/>
        </p:nvSpPr>
        <p:spPr>
          <a:xfrm rot="0">
            <a:off x="1220332" y="5178546"/>
            <a:ext cx="9033363" cy="2261540"/>
          </a:xfrm>
          <a:prstGeom prst="rect">
            <a:avLst/>
          </a:prstGeom>
        </p:spPr>
        <p:txBody>
          <a:bodyPr anchor="t" rtlCol="false" tIns="0" lIns="0" bIns="0" rIns="0">
            <a:spAutoFit/>
          </a:bodyPr>
          <a:lstStyle/>
          <a:p>
            <a:pPr algn="just">
              <a:lnSpc>
                <a:spcPts val="3600"/>
              </a:lnSpc>
            </a:pPr>
            <a:r>
              <a:rPr lang="en-US" sz="2572">
                <a:solidFill>
                  <a:srgbClr val="000000"/>
                </a:solidFill>
                <a:latin typeface="Canva Sans"/>
                <a:ea typeface="Canva Sans"/>
                <a:cs typeface="Canva Sans"/>
                <a:sym typeface="Canva Sans"/>
              </a:rPr>
              <a:t>C20 – Secon</a:t>
            </a:r>
            <a:r>
              <a:rPr lang="en-US" sz="2572">
                <a:solidFill>
                  <a:srgbClr val="000000"/>
                </a:solidFill>
                <a:latin typeface="Canva Sans"/>
                <a:ea typeface="Canva Sans"/>
                <a:cs typeface="Canva Sans"/>
                <a:sym typeface="Canva Sans"/>
              </a:rPr>
              <a:t>d-order cumulant (variance / signal power)</a:t>
            </a:r>
          </a:p>
          <a:p>
            <a:pPr algn="just">
              <a:lnSpc>
                <a:spcPts val="3600"/>
              </a:lnSpc>
            </a:pPr>
            <a:r>
              <a:rPr lang="en-US" sz="2572">
                <a:solidFill>
                  <a:srgbClr val="000000"/>
                </a:solidFill>
                <a:latin typeface="Canva Sans"/>
                <a:ea typeface="Canva Sans"/>
                <a:cs typeface="Canva Sans"/>
                <a:sym typeface="Canva Sans"/>
              </a:rPr>
              <a:t>C21 – Cross second-order cumulant (I–Q correlation)</a:t>
            </a:r>
          </a:p>
          <a:p>
            <a:pPr algn="just">
              <a:lnSpc>
                <a:spcPts val="3600"/>
              </a:lnSpc>
            </a:pPr>
            <a:r>
              <a:rPr lang="en-US" sz="2572">
                <a:solidFill>
                  <a:srgbClr val="000000"/>
                </a:solidFill>
                <a:latin typeface="Canva Sans"/>
                <a:ea typeface="Canva Sans"/>
                <a:cs typeface="Canva Sans"/>
                <a:sym typeface="Canva Sans"/>
              </a:rPr>
              <a:t>C40 – Fourth-order cumulant (global kurtosis)</a:t>
            </a:r>
          </a:p>
          <a:p>
            <a:pPr algn="just">
              <a:lnSpc>
                <a:spcPts val="3600"/>
              </a:lnSpc>
            </a:pPr>
            <a:r>
              <a:rPr lang="en-US" sz="2572">
                <a:solidFill>
                  <a:srgbClr val="000000"/>
                </a:solidFill>
                <a:latin typeface="Canva Sans"/>
                <a:ea typeface="Canva Sans"/>
                <a:cs typeface="Canva Sans"/>
                <a:sym typeface="Canva Sans"/>
              </a:rPr>
              <a:t>C41 – Cross fourth-order cumulant</a:t>
            </a:r>
          </a:p>
          <a:p>
            <a:pPr algn="just">
              <a:lnSpc>
                <a:spcPts val="3600"/>
              </a:lnSpc>
            </a:pPr>
            <a:r>
              <a:rPr lang="en-US" sz="2572">
                <a:solidFill>
                  <a:srgbClr val="000000"/>
                </a:solidFill>
                <a:latin typeface="Canva Sans"/>
                <a:ea typeface="Canva Sans"/>
                <a:cs typeface="Canva Sans"/>
                <a:sym typeface="Canva Sans"/>
              </a:rPr>
              <a:t>C42 – Fourth-order cumulant (nonlinear I–Q dependence)</a:t>
            </a:r>
          </a:p>
        </p:txBody>
      </p:sp>
      <p:sp>
        <p:nvSpPr>
          <p:cNvPr name="Freeform 10" id="10"/>
          <p:cNvSpPr/>
          <p:nvPr/>
        </p:nvSpPr>
        <p:spPr>
          <a:xfrm flipH="false" flipV="false" rot="0">
            <a:off x="12878461" y="5235696"/>
            <a:ext cx="2073553" cy="433561"/>
          </a:xfrm>
          <a:custGeom>
            <a:avLst/>
            <a:gdLst/>
            <a:ahLst/>
            <a:cxnLst/>
            <a:rect r="r" b="b" t="t" l="l"/>
            <a:pathLst>
              <a:path h="433561" w="2073553">
                <a:moveTo>
                  <a:pt x="0" y="0"/>
                </a:moveTo>
                <a:lnTo>
                  <a:pt x="2073553" y="0"/>
                </a:lnTo>
                <a:lnTo>
                  <a:pt x="2073553" y="433562"/>
                </a:lnTo>
                <a:lnTo>
                  <a:pt x="0" y="4335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2878461" y="5669258"/>
            <a:ext cx="4718419" cy="497579"/>
          </a:xfrm>
          <a:custGeom>
            <a:avLst/>
            <a:gdLst/>
            <a:ahLst/>
            <a:cxnLst/>
            <a:rect r="r" b="b" t="t" l="l"/>
            <a:pathLst>
              <a:path h="497579" w="4718419">
                <a:moveTo>
                  <a:pt x="0" y="0"/>
                </a:moveTo>
                <a:lnTo>
                  <a:pt x="4718419" y="0"/>
                </a:lnTo>
                <a:lnTo>
                  <a:pt x="4718419" y="497578"/>
                </a:lnTo>
                <a:lnTo>
                  <a:pt x="0" y="4975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2878461" y="6166836"/>
            <a:ext cx="3380392" cy="491693"/>
          </a:xfrm>
          <a:custGeom>
            <a:avLst/>
            <a:gdLst/>
            <a:ahLst/>
            <a:cxnLst/>
            <a:rect r="r" b="b" t="t" l="l"/>
            <a:pathLst>
              <a:path h="491693" w="3380392">
                <a:moveTo>
                  <a:pt x="0" y="0"/>
                </a:moveTo>
                <a:lnTo>
                  <a:pt x="3380392" y="0"/>
                </a:lnTo>
                <a:lnTo>
                  <a:pt x="3380392" y="491694"/>
                </a:lnTo>
                <a:lnTo>
                  <a:pt x="0" y="4916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2878461" y="6658530"/>
            <a:ext cx="4351704" cy="435170"/>
          </a:xfrm>
          <a:custGeom>
            <a:avLst/>
            <a:gdLst/>
            <a:ahLst/>
            <a:cxnLst/>
            <a:rect r="r" b="b" t="t" l="l"/>
            <a:pathLst>
              <a:path h="435170" w="4351704">
                <a:moveTo>
                  <a:pt x="0" y="0"/>
                </a:moveTo>
                <a:lnTo>
                  <a:pt x="4351704" y="0"/>
                </a:lnTo>
                <a:lnTo>
                  <a:pt x="4351704" y="435170"/>
                </a:lnTo>
                <a:lnTo>
                  <a:pt x="0" y="4351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2878461" y="7093700"/>
            <a:ext cx="4506773" cy="434289"/>
          </a:xfrm>
          <a:custGeom>
            <a:avLst/>
            <a:gdLst/>
            <a:ahLst/>
            <a:cxnLst/>
            <a:rect r="r" b="b" t="t" l="l"/>
            <a:pathLst>
              <a:path h="434289" w="4506773">
                <a:moveTo>
                  <a:pt x="0" y="0"/>
                </a:moveTo>
                <a:lnTo>
                  <a:pt x="4506773" y="0"/>
                </a:lnTo>
                <a:lnTo>
                  <a:pt x="4506773" y="434289"/>
                </a:lnTo>
                <a:lnTo>
                  <a:pt x="0" y="43428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7330191" y="4245351"/>
            <a:ext cx="3797976" cy="517906"/>
          </a:xfrm>
          <a:custGeom>
            <a:avLst/>
            <a:gdLst/>
            <a:ahLst/>
            <a:cxnLst/>
            <a:rect r="r" b="b" t="t" l="l"/>
            <a:pathLst>
              <a:path h="517906" w="3797976">
                <a:moveTo>
                  <a:pt x="0" y="0"/>
                </a:moveTo>
                <a:lnTo>
                  <a:pt x="3797976" y="0"/>
                </a:lnTo>
                <a:lnTo>
                  <a:pt x="3797976" y="517906"/>
                </a:lnTo>
                <a:lnTo>
                  <a:pt x="0" y="51790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sp>
        <p:nvSpPr>
          <p:cNvPr name="Freeform 3" id="3"/>
          <p:cNvSpPr/>
          <p:nvPr/>
        </p:nvSpPr>
        <p:spPr>
          <a:xfrm flipH="false" flipV="false" rot="0">
            <a:off x="733609" y="2210106"/>
            <a:ext cx="6732117" cy="5654978"/>
          </a:xfrm>
          <a:custGeom>
            <a:avLst/>
            <a:gdLst/>
            <a:ahLst/>
            <a:cxnLst/>
            <a:rect r="r" b="b" t="t" l="l"/>
            <a:pathLst>
              <a:path h="5654978" w="6732117">
                <a:moveTo>
                  <a:pt x="0" y="0"/>
                </a:moveTo>
                <a:lnTo>
                  <a:pt x="6732117" y="0"/>
                </a:lnTo>
                <a:lnTo>
                  <a:pt x="6732117" y="5654979"/>
                </a:lnTo>
                <a:lnTo>
                  <a:pt x="0" y="5654979"/>
                </a:lnTo>
                <a:lnTo>
                  <a:pt x="0" y="0"/>
                </a:lnTo>
                <a:close/>
              </a:path>
            </a:pathLst>
          </a:custGeom>
          <a:blipFill>
            <a:blip r:embed="rId3"/>
            <a:stretch>
              <a:fillRect l="0" t="0" r="0" b="0"/>
            </a:stretch>
          </a:blipFill>
        </p:spPr>
      </p:sp>
      <p:sp>
        <p:nvSpPr>
          <p:cNvPr name="TextBox 4" id="4"/>
          <p:cNvSpPr txBox="true"/>
          <p:nvPr/>
        </p:nvSpPr>
        <p:spPr>
          <a:xfrm rot="0">
            <a:off x="0" y="933450"/>
            <a:ext cx="14931452"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PROPOSAL- Correlation between features</a:t>
            </a:r>
          </a:p>
        </p:txBody>
      </p:sp>
      <p:sp>
        <p:nvSpPr>
          <p:cNvPr name="TextBox 5" id="5"/>
          <p:cNvSpPr txBox="true"/>
          <p:nvPr/>
        </p:nvSpPr>
        <p:spPr>
          <a:xfrm rot="0">
            <a:off x="7990657" y="3159256"/>
            <a:ext cx="9390215" cy="3328353"/>
          </a:xfrm>
          <a:prstGeom prst="rect">
            <a:avLst/>
          </a:prstGeom>
        </p:spPr>
        <p:txBody>
          <a:bodyPr anchor="t" rtlCol="false" tIns="0" lIns="0" bIns="0" rIns="0">
            <a:spAutoFit/>
          </a:bodyPr>
          <a:lstStyle/>
          <a:p>
            <a:pPr algn="just" marL="410209" indent="-205105" lvl="1">
              <a:lnSpc>
                <a:spcPts val="2659"/>
              </a:lnSpc>
              <a:buFont typeface="Arial"/>
              <a:buChar char="•"/>
            </a:pPr>
            <a:r>
              <a:rPr lang="en-US" sz="1899">
                <a:solidFill>
                  <a:srgbClr val="000000"/>
                </a:solidFill>
                <a:latin typeface="Canva Sans"/>
                <a:ea typeface="Canva Sans"/>
                <a:cs typeface="Canva Sans"/>
                <a:sym typeface="Canva Sans"/>
              </a:rPr>
              <a:t>129 cumulant-based features per symbol were initially extracted.</a:t>
            </a:r>
          </a:p>
          <a:p>
            <a:pPr algn="just" marL="410209" indent="-205105" lvl="1">
              <a:lnSpc>
                <a:spcPts val="2659"/>
              </a:lnSpc>
              <a:buFont typeface="Arial"/>
              <a:buChar char="•"/>
            </a:pPr>
            <a:r>
              <a:rPr lang="en-US" sz="1899">
                <a:solidFill>
                  <a:srgbClr val="000000"/>
                </a:solidFill>
                <a:latin typeface="Canva Sans"/>
                <a:ea typeface="Canva Sans"/>
                <a:cs typeface="Canva Sans"/>
                <a:sym typeface="Canva Sans"/>
              </a:rPr>
              <a:t>The resulting feature space contained high redundancy, strong multicollinearity, and several low-variance descriptors.</a:t>
            </a:r>
          </a:p>
          <a:p>
            <a:pPr algn="just" marL="410209" indent="-205105" lvl="1">
              <a:lnSpc>
                <a:spcPts val="2659"/>
              </a:lnSpc>
              <a:buFont typeface="Arial"/>
              <a:buChar char="•"/>
            </a:pPr>
            <a:r>
              <a:rPr lang="en-US" sz="1899">
                <a:solidFill>
                  <a:srgbClr val="000000"/>
                </a:solidFill>
                <a:latin typeface="Canva Sans"/>
                <a:ea typeface="Canva Sans"/>
                <a:cs typeface="Canva Sans"/>
                <a:sym typeface="Canva Sans"/>
              </a:rPr>
              <a:t>Correlation matrices were computed (with and without including SNR) to analyze linear dependencies across features.</a:t>
            </a:r>
          </a:p>
          <a:p>
            <a:pPr algn="just" marL="410209" indent="-205105" lvl="1">
              <a:lnSpc>
                <a:spcPts val="2659"/>
              </a:lnSpc>
              <a:buFont typeface="Arial"/>
              <a:buChar char="•"/>
            </a:pPr>
            <a:r>
              <a:rPr lang="en-US" sz="1899">
                <a:solidFill>
                  <a:srgbClr val="000000"/>
                </a:solidFill>
                <a:latin typeface="Canva Sans"/>
                <a:ea typeface="Canva Sans"/>
                <a:cs typeface="Canva Sans"/>
                <a:sym typeface="Canva Sans"/>
              </a:rPr>
              <a:t>Highly correlated feature pairs were identified using a |ρ| &gt; 0.90 threshold.</a:t>
            </a:r>
          </a:p>
          <a:p>
            <a:pPr algn="just" marL="410209" indent="-205105" lvl="1">
              <a:lnSpc>
                <a:spcPts val="2659"/>
              </a:lnSpc>
              <a:buFont typeface="Arial"/>
              <a:buChar char="•"/>
            </a:pPr>
            <a:r>
              <a:rPr lang="en-US" sz="1899">
                <a:solidFill>
                  <a:srgbClr val="000000"/>
                </a:solidFill>
                <a:latin typeface="Canva Sans"/>
                <a:ea typeface="Canva Sans"/>
                <a:cs typeface="Canva Sans"/>
                <a:sym typeface="Canva Sans"/>
              </a:rPr>
              <a:t>Redundant features were removed by eliminating one feature from each highly correlated pair, reducing dimensionality while preserving the most informative descriptors.</a:t>
            </a:r>
          </a:p>
          <a:p>
            <a:pPr algn="just">
              <a:lnSpc>
                <a:spcPts val="265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sp>
        <p:nvSpPr>
          <p:cNvPr name="Freeform 3" id="3"/>
          <p:cNvSpPr/>
          <p:nvPr/>
        </p:nvSpPr>
        <p:spPr>
          <a:xfrm flipH="false" flipV="false" rot="0">
            <a:off x="9144000" y="3474293"/>
            <a:ext cx="7492268" cy="2865895"/>
          </a:xfrm>
          <a:custGeom>
            <a:avLst/>
            <a:gdLst/>
            <a:ahLst/>
            <a:cxnLst/>
            <a:rect r="r" b="b" t="t" l="l"/>
            <a:pathLst>
              <a:path h="2865895" w="7492268">
                <a:moveTo>
                  <a:pt x="0" y="0"/>
                </a:moveTo>
                <a:lnTo>
                  <a:pt x="7492268" y="0"/>
                </a:lnTo>
                <a:lnTo>
                  <a:pt x="7492268" y="2865895"/>
                </a:lnTo>
                <a:lnTo>
                  <a:pt x="0" y="2865895"/>
                </a:lnTo>
                <a:lnTo>
                  <a:pt x="0" y="0"/>
                </a:lnTo>
                <a:close/>
              </a:path>
            </a:pathLst>
          </a:custGeom>
          <a:blipFill>
            <a:blip r:embed="rId3"/>
            <a:stretch>
              <a:fillRect l="0" t="0" r="0" b="0"/>
            </a:stretch>
          </a:blipFill>
        </p:spPr>
      </p:sp>
      <p:sp>
        <p:nvSpPr>
          <p:cNvPr name="TextBox 4" id="4"/>
          <p:cNvSpPr txBox="true"/>
          <p:nvPr/>
        </p:nvSpPr>
        <p:spPr>
          <a:xfrm rot="0">
            <a:off x="1026397" y="933450"/>
            <a:ext cx="9174785"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EXPERIMENTAL SCENARIO</a:t>
            </a:r>
          </a:p>
        </p:txBody>
      </p:sp>
      <p:sp>
        <p:nvSpPr>
          <p:cNvPr name="TextBox 5" id="5"/>
          <p:cNvSpPr txBox="true"/>
          <p:nvPr/>
        </p:nvSpPr>
        <p:spPr>
          <a:xfrm rot="0">
            <a:off x="1026397" y="3436193"/>
            <a:ext cx="7724927" cy="2633709"/>
          </a:xfrm>
          <a:prstGeom prst="rect">
            <a:avLst/>
          </a:prstGeom>
        </p:spPr>
        <p:txBody>
          <a:bodyPr anchor="t" rtlCol="false" tIns="0" lIns="0" bIns="0" rIns="0">
            <a:spAutoFit/>
          </a:bodyPr>
          <a:lstStyle/>
          <a:p>
            <a:pPr algn="just" marL="464928" indent="-232464" lvl="1">
              <a:lnSpc>
                <a:spcPts val="3014"/>
              </a:lnSpc>
              <a:buFont typeface="Arial"/>
              <a:buChar char="•"/>
            </a:pPr>
            <a:r>
              <a:rPr lang="en-US" sz="2153">
                <a:solidFill>
                  <a:srgbClr val="000000"/>
                </a:solidFill>
                <a:latin typeface="Canva Sans"/>
                <a:ea typeface="Canva Sans"/>
                <a:cs typeface="Canva Sans"/>
                <a:sym typeface="Canva Sans"/>
              </a:rPr>
              <a:t>Three lasers with a linewidth of 100 kHz each</a:t>
            </a:r>
          </a:p>
          <a:p>
            <a:pPr algn="just" marL="464928" indent="-232464" lvl="1">
              <a:lnSpc>
                <a:spcPts val="3014"/>
              </a:lnSpc>
              <a:buFont typeface="Arial"/>
              <a:buChar char="•"/>
            </a:pPr>
            <a:r>
              <a:rPr lang="en-US" sz="2153">
                <a:solidFill>
                  <a:srgbClr val="000000"/>
                </a:solidFill>
                <a:latin typeface="Canva Sans"/>
                <a:ea typeface="Canva Sans"/>
                <a:cs typeface="Canva Sans"/>
                <a:sym typeface="Canva Sans"/>
              </a:rPr>
              <a:t>3 × 16 GBd 16-QAM Nyquist-WDM system</a:t>
            </a:r>
          </a:p>
          <a:p>
            <a:pPr algn="just" marL="464928" indent="-232464" lvl="1">
              <a:lnSpc>
                <a:spcPts val="3014"/>
              </a:lnSpc>
              <a:buFont typeface="Arial"/>
              <a:buChar char="•"/>
            </a:pPr>
            <a:r>
              <a:rPr lang="en-US" sz="2153">
                <a:solidFill>
                  <a:srgbClr val="000000"/>
                </a:solidFill>
                <a:latin typeface="Canva Sans"/>
                <a:ea typeface="Canva Sans"/>
                <a:cs typeface="Canva Sans"/>
                <a:sym typeface="Canva Sans"/>
              </a:rPr>
              <a:t>Dual-polarization IQ modulator</a:t>
            </a:r>
          </a:p>
          <a:p>
            <a:pPr algn="just" marL="464928" indent="-232464" lvl="1">
              <a:lnSpc>
                <a:spcPts val="3014"/>
              </a:lnSpc>
              <a:buFont typeface="Arial"/>
              <a:buChar char="•"/>
            </a:pPr>
            <a:r>
              <a:rPr lang="en-US" sz="2153">
                <a:solidFill>
                  <a:srgbClr val="000000"/>
                </a:solidFill>
                <a:latin typeface="Canva Sans"/>
                <a:ea typeface="Canva Sans"/>
                <a:cs typeface="Canva Sans"/>
                <a:sym typeface="Canva Sans"/>
              </a:rPr>
              <a:t>Root-Raised-Cosine filter with a roll-off factor of 0.1</a:t>
            </a:r>
          </a:p>
          <a:p>
            <a:pPr algn="just" marL="464928" indent="-232464" lvl="1">
              <a:lnSpc>
                <a:spcPts val="3014"/>
              </a:lnSpc>
              <a:buFont typeface="Arial"/>
              <a:buChar char="•"/>
            </a:pPr>
            <a:r>
              <a:rPr lang="en-US" sz="2153">
                <a:solidFill>
                  <a:srgbClr val="000000"/>
                </a:solidFill>
                <a:latin typeface="Canva Sans"/>
                <a:ea typeface="Canva Sans"/>
                <a:cs typeface="Canva Sans"/>
                <a:sym typeface="Canva Sans"/>
              </a:rPr>
              <a:t>Channel bandwidth (CBW) of 17.6 GHz</a:t>
            </a:r>
          </a:p>
          <a:p>
            <a:pPr algn="just" marL="464928" indent="-232464" lvl="1">
              <a:lnSpc>
                <a:spcPts val="3014"/>
              </a:lnSpc>
              <a:buFont typeface="Arial"/>
              <a:buChar char="•"/>
            </a:pPr>
            <a:r>
              <a:rPr lang="en-US" sz="2153">
                <a:solidFill>
                  <a:srgbClr val="000000"/>
                </a:solidFill>
                <a:latin typeface="Canva Sans"/>
                <a:ea typeface="Canva Sans"/>
                <a:cs typeface="Canva Sans"/>
                <a:sym typeface="Canva Sans"/>
              </a:rPr>
              <a:t>B2B scenario</a:t>
            </a:r>
          </a:p>
          <a:p>
            <a:pPr algn="just">
              <a:lnSpc>
                <a:spcPts val="3014"/>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sp>
        <p:nvSpPr>
          <p:cNvPr name="TextBox 3" id="3"/>
          <p:cNvSpPr txBox="true"/>
          <p:nvPr/>
        </p:nvSpPr>
        <p:spPr>
          <a:xfrm rot="0">
            <a:off x="1026397" y="933450"/>
            <a:ext cx="13109083"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RESULTS - Classification (17.6 GHz = 1)</a:t>
            </a:r>
          </a:p>
        </p:txBody>
      </p:sp>
      <p:sp>
        <p:nvSpPr>
          <p:cNvPr name="Freeform 4" id="4"/>
          <p:cNvSpPr/>
          <p:nvPr/>
        </p:nvSpPr>
        <p:spPr>
          <a:xfrm flipH="false" flipV="false" rot="0">
            <a:off x="4154666" y="2248932"/>
            <a:ext cx="8152825" cy="2680241"/>
          </a:xfrm>
          <a:custGeom>
            <a:avLst/>
            <a:gdLst/>
            <a:ahLst/>
            <a:cxnLst/>
            <a:rect r="r" b="b" t="t" l="l"/>
            <a:pathLst>
              <a:path h="2680241" w="8152825">
                <a:moveTo>
                  <a:pt x="0" y="0"/>
                </a:moveTo>
                <a:lnTo>
                  <a:pt x="8152824" y="0"/>
                </a:lnTo>
                <a:lnTo>
                  <a:pt x="8152824" y="2680241"/>
                </a:lnTo>
                <a:lnTo>
                  <a:pt x="0" y="2680241"/>
                </a:lnTo>
                <a:lnTo>
                  <a:pt x="0" y="0"/>
                </a:lnTo>
                <a:close/>
              </a:path>
            </a:pathLst>
          </a:custGeom>
          <a:blipFill>
            <a:blip r:embed="rId3"/>
            <a:stretch>
              <a:fillRect l="0" t="0" r="0" b="0"/>
            </a:stretch>
          </a:blipFill>
        </p:spPr>
      </p:sp>
      <p:sp>
        <p:nvSpPr>
          <p:cNvPr name="Freeform 5" id="5"/>
          <p:cNvSpPr/>
          <p:nvPr/>
        </p:nvSpPr>
        <p:spPr>
          <a:xfrm flipH="false" flipV="false" rot="0">
            <a:off x="4154666" y="5595236"/>
            <a:ext cx="8152825" cy="2651837"/>
          </a:xfrm>
          <a:custGeom>
            <a:avLst/>
            <a:gdLst/>
            <a:ahLst/>
            <a:cxnLst/>
            <a:rect r="r" b="b" t="t" l="l"/>
            <a:pathLst>
              <a:path h="2651837" w="8152825">
                <a:moveTo>
                  <a:pt x="0" y="0"/>
                </a:moveTo>
                <a:lnTo>
                  <a:pt x="8152824" y="0"/>
                </a:lnTo>
                <a:lnTo>
                  <a:pt x="8152824" y="2651837"/>
                </a:lnTo>
                <a:lnTo>
                  <a:pt x="0" y="2651837"/>
                </a:lnTo>
                <a:lnTo>
                  <a:pt x="0" y="0"/>
                </a:lnTo>
                <a:close/>
              </a:path>
            </a:pathLst>
          </a:custGeom>
          <a:blipFill>
            <a:blip r:embed="rId4"/>
            <a:stretch>
              <a:fillRect l="0" t="-535" r="0" b="-535"/>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25"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graphicFrame>
        <p:nvGraphicFramePr>
          <p:cNvPr name="Table 3" id="3"/>
          <p:cNvGraphicFramePr>
            <a:graphicFrameLocks noGrp="true"/>
          </p:cNvGraphicFramePr>
          <p:nvPr/>
        </p:nvGraphicFramePr>
        <p:xfrm>
          <a:off x="1444035" y="2240689"/>
          <a:ext cx="15399931" cy="4838700"/>
        </p:xfrm>
        <a:graphic>
          <a:graphicData uri="http://schemas.openxmlformats.org/drawingml/2006/table">
            <a:tbl>
              <a:tblPr/>
              <a:tblGrid>
                <a:gridCol w="1924991"/>
                <a:gridCol w="1924991"/>
                <a:gridCol w="1924991"/>
                <a:gridCol w="1924991"/>
                <a:gridCol w="1924991"/>
                <a:gridCol w="1924991"/>
                <a:gridCol w="1924991"/>
                <a:gridCol w="1924991"/>
              </a:tblGrid>
              <a:tr h="1728107">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Number of class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OSNR included in the classifier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Ch = 17.6 GHz Labeled 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Accuracy VGG16 Model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[1] CNN techniques [%]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Proposal method SVM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Proposal method XGBoost</a:t>
                      </a:r>
                      <a:r>
                        <a:rPr lang="en-US" sz="1800" b="true">
                          <a:solidFill>
                            <a:srgbClr val="000000"/>
                          </a:solidFill>
                          <a:latin typeface="Canva Sans Bold"/>
                          <a:ea typeface="Canva Sans Bold"/>
                          <a:cs typeface="Canva Sans Bold"/>
                          <a:sym typeface="Canva Sans Bold"/>
                        </a:rPr>
                        <a:t>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Proposal method Random Forest</a:t>
                      </a:r>
                      <a:r>
                        <a:rPr lang="en-US" sz="1800" b="true">
                          <a:solidFill>
                            <a:srgbClr val="000000"/>
                          </a:solidFill>
                          <a:latin typeface="Canva Sans Bold"/>
                          <a:ea typeface="Canva Sans Bold"/>
                          <a:cs typeface="Canva Sans Bold"/>
                          <a:sym typeface="Canva Sans Bold"/>
                        </a:rPr>
                        <a:t>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77648">
                <a:tc>
                  <a:txBody>
                    <a:bodyPr anchor="t" rtlCol="false"/>
                    <a:lstStyle/>
                    <a:p>
                      <a:pPr algn="ctr">
                        <a:lnSpc>
                          <a:spcPts val="2520"/>
                        </a:lnSpc>
                        <a:defRPr/>
                      </a:pPr>
                      <a:r>
                        <a:rPr lang="en-US" sz="1800">
                          <a:solidFill>
                            <a:srgbClr val="000000"/>
                          </a:solidFill>
                          <a:latin typeface="Canva Sans"/>
                          <a:ea typeface="Canva Sans"/>
                          <a:cs typeface="Canva Sans"/>
                          <a:sym typeface="Canva Sans"/>
                        </a:rPr>
                        <a:t>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Yes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Overlap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86.3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93.15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0.90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0.88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0.90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77648">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Yes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No overlap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60.27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91.78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0.70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0.71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0.78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77648">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Overlap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86.30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91.78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0.76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0.88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0.90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77648">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No overlap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61.64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90.41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0.68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0.7294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0.7235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1026397" y="933450"/>
            <a:ext cx="12982097"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RESULTS - Classification comparation</a:t>
            </a:r>
          </a:p>
        </p:txBody>
      </p:sp>
      <p:sp>
        <p:nvSpPr>
          <p:cNvPr name="TextBox 5" id="5"/>
          <p:cNvSpPr txBox="true"/>
          <p:nvPr/>
        </p:nvSpPr>
        <p:spPr>
          <a:xfrm rot="0">
            <a:off x="718909" y="7308176"/>
            <a:ext cx="17011953" cy="719579"/>
          </a:xfrm>
          <a:prstGeom prst="rect">
            <a:avLst/>
          </a:prstGeom>
        </p:spPr>
        <p:txBody>
          <a:bodyPr anchor="t" rtlCol="false" tIns="0" lIns="0" bIns="0" rIns="0">
            <a:spAutoFit/>
          </a:bodyPr>
          <a:lstStyle/>
          <a:p>
            <a:pPr algn="l">
              <a:lnSpc>
                <a:spcPts val="2863"/>
              </a:lnSpc>
            </a:pPr>
            <a:r>
              <a:rPr lang="en-US" sz="2045">
                <a:solidFill>
                  <a:srgbClr val="000000"/>
                </a:solidFill>
                <a:latin typeface="Canva Sans"/>
                <a:ea typeface="Canva Sans"/>
                <a:cs typeface="Canva Sans"/>
                <a:sym typeface="Canva Sans"/>
              </a:rPr>
              <a:t> [ 1] K. D.</a:t>
            </a:r>
            <a:r>
              <a:rPr lang="en-US" sz="2045">
                <a:solidFill>
                  <a:srgbClr val="000000"/>
                </a:solidFill>
                <a:latin typeface="Canva Sans"/>
                <a:ea typeface="Canva Sans"/>
                <a:cs typeface="Canva Sans"/>
                <a:sym typeface="Canva Sans"/>
              </a:rPr>
              <a:t> Martínez Zapata et al, “Estimation of spectral spacing and linear ICI effects using IQ constellation images and CNN in gridless WDM systems,” Univ. of Antioquia, GITA Lab, Medellín, Colombia, Jan. 2025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sp>
        <p:nvSpPr>
          <p:cNvPr name="TextBox 3" id="3"/>
          <p:cNvSpPr txBox="true"/>
          <p:nvPr/>
        </p:nvSpPr>
        <p:spPr>
          <a:xfrm rot="0">
            <a:off x="1028700" y="933450"/>
            <a:ext cx="15973307"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RESULTS - Classification Recall as a better metric</a:t>
            </a:r>
          </a:p>
        </p:txBody>
      </p:sp>
      <p:sp>
        <p:nvSpPr>
          <p:cNvPr name="TextBox 4" id="4"/>
          <p:cNvSpPr txBox="true"/>
          <p:nvPr/>
        </p:nvSpPr>
        <p:spPr>
          <a:xfrm rot="0">
            <a:off x="572711" y="2331000"/>
            <a:ext cx="17142578" cy="2233301"/>
          </a:xfrm>
          <a:prstGeom prst="rect">
            <a:avLst/>
          </a:prstGeom>
        </p:spPr>
        <p:txBody>
          <a:bodyPr anchor="t" rtlCol="false" tIns="0" lIns="0" bIns="0" rIns="0">
            <a:spAutoFit/>
          </a:bodyPr>
          <a:lstStyle/>
          <a:p>
            <a:pPr algn="just">
              <a:lnSpc>
                <a:spcPts val="3018"/>
              </a:lnSpc>
              <a:spcBef>
                <a:spcPct val="0"/>
              </a:spcBef>
            </a:pPr>
            <a:r>
              <a:rPr lang="en-US" sz="2156">
                <a:solidFill>
                  <a:srgbClr val="000000"/>
                </a:solidFill>
                <a:latin typeface="Canva Sans"/>
                <a:ea typeface="Canva Sans"/>
                <a:cs typeface="Canva Sans"/>
                <a:sym typeface="Canva Sans"/>
              </a:rPr>
              <a:t>In this problem, accuracy does not reflect the true performance because the “ICI” class dominates and is easier to detect. A model can achieve high accuracy simply by predicting this class most of the time, even while failing completely on “No ICI.”</a:t>
            </a:r>
          </a:p>
          <a:p>
            <a:pPr algn="just">
              <a:lnSpc>
                <a:spcPts val="3018"/>
              </a:lnSpc>
              <a:spcBef>
                <a:spcPct val="0"/>
              </a:spcBef>
            </a:pPr>
            <a:r>
              <a:rPr lang="en-US" sz="2156">
                <a:solidFill>
                  <a:srgbClr val="000000"/>
                </a:solidFill>
                <a:latin typeface="Canva Sans"/>
                <a:ea typeface="Canva Sans"/>
                <a:cs typeface="Canva Sans"/>
                <a:sym typeface="Canva Sans"/>
              </a:rPr>
              <a:t>Class-wise recall—particularly Recall(No ICI)—is therefore a much more informative metric. F1-Macro also balances both classes and prevents the dominant class from hiding errors.</a:t>
            </a:r>
          </a:p>
          <a:p>
            <a:pPr algn="just">
              <a:lnSpc>
                <a:spcPts val="3018"/>
              </a:lnSpc>
              <a:spcBef>
                <a:spcPct val="0"/>
              </a:spcBef>
            </a:pPr>
            <a:r>
              <a:rPr lang="en-US" sz="2156">
                <a:solidFill>
                  <a:srgbClr val="000000"/>
                </a:solidFill>
                <a:latin typeface="Canva Sans"/>
                <a:ea typeface="Canva Sans"/>
                <a:cs typeface="Canva Sans"/>
                <a:sym typeface="Canva Sans"/>
              </a:rPr>
              <a:t>When SNR is added as a feature, class separability improves and recall increases, showing that recall is more sensitive to meaningful model improvements</a:t>
            </a:r>
          </a:p>
        </p:txBody>
      </p:sp>
      <p:sp>
        <p:nvSpPr>
          <p:cNvPr name="Freeform 5" id="5"/>
          <p:cNvSpPr/>
          <p:nvPr/>
        </p:nvSpPr>
        <p:spPr>
          <a:xfrm flipH="false" flipV="false" rot="0">
            <a:off x="1122055" y="5666407"/>
            <a:ext cx="7502100" cy="1559843"/>
          </a:xfrm>
          <a:custGeom>
            <a:avLst/>
            <a:gdLst/>
            <a:ahLst/>
            <a:cxnLst/>
            <a:rect r="r" b="b" t="t" l="l"/>
            <a:pathLst>
              <a:path h="1559843" w="7502100">
                <a:moveTo>
                  <a:pt x="0" y="0"/>
                </a:moveTo>
                <a:lnTo>
                  <a:pt x="7502100" y="0"/>
                </a:lnTo>
                <a:lnTo>
                  <a:pt x="7502100" y="1559843"/>
                </a:lnTo>
                <a:lnTo>
                  <a:pt x="0" y="1559843"/>
                </a:lnTo>
                <a:lnTo>
                  <a:pt x="0" y="0"/>
                </a:lnTo>
                <a:close/>
              </a:path>
            </a:pathLst>
          </a:custGeom>
          <a:blipFill>
            <a:blip r:embed="rId3"/>
            <a:stretch>
              <a:fillRect l="0" t="0" r="0" b="0"/>
            </a:stretch>
          </a:blipFill>
        </p:spPr>
      </p:sp>
      <p:sp>
        <p:nvSpPr>
          <p:cNvPr name="Freeform 6" id="6"/>
          <p:cNvSpPr/>
          <p:nvPr/>
        </p:nvSpPr>
        <p:spPr>
          <a:xfrm flipH="false" flipV="false" rot="0">
            <a:off x="9879898" y="5666407"/>
            <a:ext cx="6997766" cy="1559843"/>
          </a:xfrm>
          <a:custGeom>
            <a:avLst/>
            <a:gdLst/>
            <a:ahLst/>
            <a:cxnLst/>
            <a:rect r="r" b="b" t="t" l="l"/>
            <a:pathLst>
              <a:path h="1559843" w="6997766">
                <a:moveTo>
                  <a:pt x="0" y="0"/>
                </a:moveTo>
                <a:lnTo>
                  <a:pt x="6997766" y="0"/>
                </a:lnTo>
                <a:lnTo>
                  <a:pt x="6997766" y="1559843"/>
                </a:lnTo>
                <a:lnTo>
                  <a:pt x="0" y="1559843"/>
                </a:lnTo>
                <a:lnTo>
                  <a:pt x="0" y="0"/>
                </a:lnTo>
                <a:close/>
              </a:path>
            </a:pathLst>
          </a:custGeom>
          <a:blipFill>
            <a:blip r:embed="rId4"/>
            <a:stretch>
              <a:fillRect l="-3931" t="0" r="-3931"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sp>
        <p:nvSpPr>
          <p:cNvPr name="TextBox 3" id="3"/>
          <p:cNvSpPr txBox="true"/>
          <p:nvPr/>
        </p:nvSpPr>
        <p:spPr>
          <a:xfrm rot="0">
            <a:off x="236266" y="933450"/>
            <a:ext cx="13109083" cy="887021"/>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RESULTS - Regression (17.6 GHz = ‘1’)</a:t>
            </a:r>
          </a:p>
        </p:txBody>
      </p:sp>
      <p:sp>
        <p:nvSpPr>
          <p:cNvPr name="Freeform 4" id="4"/>
          <p:cNvSpPr/>
          <p:nvPr/>
        </p:nvSpPr>
        <p:spPr>
          <a:xfrm flipH="false" flipV="false" rot="0">
            <a:off x="4972050" y="2246535"/>
            <a:ext cx="8343900" cy="3097673"/>
          </a:xfrm>
          <a:custGeom>
            <a:avLst/>
            <a:gdLst/>
            <a:ahLst/>
            <a:cxnLst/>
            <a:rect r="r" b="b" t="t" l="l"/>
            <a:pathLst>
              <a:path h="3097673" w="8343900">
                <a:moveTo>
                  <a:pt x="0" y="0"/>
                </a:moveTo>
                <a:lnTo>
                  <a:pt x="8343900" y="0"/>
                </a:lnTo>
                <a:lnTo>
                  <a:pt x="8343900" y="3097673"/>
                </a:lnTo>
                <a:lnTo>
                  <a:pt x="0" y="3097673"/>
                </a:lnTo>
                <a:lnTo>
                  <a:pt x="0" y="0"/>
                </a:lnTo>
                <a:close/>
              </a:path>
            </a:pathLst>
          </a:custGeom>
          <a:blipFill>
            <a:blip r:embed="rId3"/>
            <a:stretch>
              <a:fillRect l="0" t="0" r="0" b="0"/>
            </a:stretch>
          </a:blipFill>
        </p:spPr>
      </p:sp>
      <p:sp>
        <p:nvSpPr>
          <p:cNvPr name="Freeform 5" id="5"/>
          <p:cNvSpPr/>
          <p:nvPr/>
        </p:nvSpPr>
        <p:spPr>
          <a:xfrm flipH="false" flipV="false" rot="0">
            <a:off x="4985565" y="5613629"/>
            <a:ext cx="8359784" cy="3103570"/>
          </a:xfrm>
          <a:custGeom>
            <a:avLst/>
            <a:gdLst/>
            <a:ahLst/>
            <a:cxnLst/>
            <a:rect r="r" b="b" t="t" l="l"/>
            <a:pathLst>
              <a:path h="3103570" w="8359784">
                <a:moveTo>
                  <a:pt x="0" y="0"/>
                </a:moveTo>
                <a:lnTo>
                  <a:pt x="8359784" y="0"/>
                </a:lnTo>
                <a:lnTo>
                  <a:pt x="8359784" y="3103570"/>
                </a:lnTo>
                <a:lnTo>
                  <a:pt x="0" y="3103570"/>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sp>
        <p:nvSpPr>
          <p:cNvPr name="Freeform 3" id="3"/>
          <p:cNvSpPr/>
          <p:nvPr/>
        </p:nvSpPr>
        <p:spPr>
          <a:xfrm flipH="false" flipV="false" rot="0">
            <a:off x="1559903" y="4783815"/>
            <a:ext cx="5641344" cy="3673925"/>
          </a:xfrm>
          <a:custGeom>
            <a:avLst/>
            <a:gdLst/>
            <a:ahLst/>
            <a:cxnLst/>
            <a:rect r="r" b="b" t="t" l="l"/>
            <a:pathLst>
              <a:path h="3673925" w="5641344">
                <a:moveTo>
                  <a:pt x="0" y="0"/>
                </a:moveTo>
                <a:lnTo>
                  <a:pt x="5641344" y="0"/>
                </a:lnTo>
                <a:lnTo>
                  <a:pt x="5641344" y="3673925"/>
                </a:lnTo>
                <a:lnTo>
                  <a:pt x="0" y="3673925"/>
                </a:lnTo>
                <a:lnTo>
                  <a:pt x="0" y="0"/>
                </a:lnTo>
                <a:close/>
              </a:path>
            </a:pathLst>
          </a:custGeom>
          <a:blipFill>
            <a:blip r:embed="rId3"/>
            <a:stretch>
              <a:fillRect l="0" t="0" r="0" b="0"/>
            </a:stretch>
          </a:blipFill>
        </p:spPr>
      </p:sp>
      <p:sp>
        <p:nvSpPr>
          <p:cNvPr name="Freeform 4" id="4"/>
          <p:cNvSpPr/>
          <p:nvPr/>
        </p:nvSpPr>
        <p:spPr>
          <a:xfrm flipH="false" flipV="false" rot="0">
            <a:off x="9659005" y="4783815"/>
            <a:ext cx="5523618" cy="3597257"/>
          </a:xfrm>
          <a:custGeom>
            <a:avLst/>
            <a:gdLst/>
            <a:ahLst/>
            <a:cxnLst/>
            <a:rect r="r" b="b" t="t" l="l"/>
            <a:pathLst>
              <a:path h="3597257" w="5523618">
                <a:moveTo>
                  <a:pt x="0" y="0"/>
                </a:moveTo>
                <a:lnTo>
                  <a:pt x="5523618" y="0"/>
                </a:lnTo>
                <a:lnTo>
                  <a:pt x="5523618" y="3597257"/>
                </a:lnTo>
                <a:lnTo>
                  <a:pt x="0" y="3597257"/>
                </a:lnTo>
                <a:lnTo>
                  <a:pt x="0" y="0"/>
                </a:lnTo>
                <a:close/>
              </a:path>
            </a:pathLst>
          </a:custGeom>
          <a:blipFill>
            <a:blip r:embed="rId4"/>
            <a:stretch>
              <a:fillRect l="0" t="0" r="0" b="0"/>
            </a:stretch>
          </a:blipFill>
        </p:spPr>
      </p:sp>
      <p:sp>
        <p:nvSpPr>
          <p:cNvPr name="TextBox 5" id="5"/>
          <p:cNvSpPr txBox="true"/>
          <p:nvPr/>
        </p:nvSpPr>
        <p:spPr>
          <a:xfrm rot="0">
            <a:off x="1028700" y="933450"/>
            <a:ext cx="7310087"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RESULTS - Regression</a:t>
            </a:r>
          </a:p>
        </p:txBody>
      </p:sp>
      <p:sp>
        <p:nvSpPr>
          <p:cNvPr name="TextBox 6" id="6"/>
          <p:cNvSpPr txBox="true"/>
          <p:nvPr/>
        </p:nvSpPr>
        <p:spPr>
          <a:xfrm rot="0">
            <a:off x="1028700" y="2044226"/>
            <a:ext cx="14464332" cy="2183831"/>
          </a:xfrm>
          <a:prstGeom prst="rect">
            <a:avLst/>
          </a:prstGeom>
        </p:spPr>
        <p:txBody>
          <a:bodyPr anchor="t" rtlCol="false" tIns="0" lIns="0" bIns="0" rIns="0">
            <a:spAutoFit/>
          </a:bodyPr>
          <a:lstStyle/>
          <a:p>
            <a:pPr algn="just">
              <a:lnSpc>
                <a:spcPts val="2481"/>
              </a:lnSpc>
              <a:spcBef>
                <a:spcPct val="0"/>
              </a:spcBef>
            </a:pPr>
            <a:r>
              <a:rPr lang="en-US" sz="1772">
                <a:solidFill>
                  <a:srgbClr val="000000"/>
                </a:solidFill>
                <a:latin typeface="Canva Sans"/>
                <a:ea typeface="Canva Sans"/>
                <a:cs typeface="Canva Sans"/>
                <a:sym typeface="Canva Sans"/>
              </a:rPr>
              <a:t>The regression results show that predicting the spectral separation is nearly impossible without SNR. All models exhibit low R² scores (&lt; 0.20) and large errors (RMSE ≈ 10 GHz), which is reflected in the strong scatter of the predictions. This indicates that the available features do not contain sufficient information to estimate the bandwidth.</a:t>
            </a:r>
          </a:p>
          <a:p>
            <a:pPr algn="just">
              <a:lnSpc>
                <a:spcPts val="2481"/>
              </a:lnSpc>
              <a:spcBef>
                <a:spcPct val="0"/>
              </a:spcBef>
            </a:pPr>
          </a:p>
          <a:p>
            <a:pPr algn="just">
              <a:lnSpc>
                <a:spcPts val="2481"/>
              </a:lnSpc>
              <a:spcBef>
                <a:spcPct val="0"/>
              </a:spcBef>
            </a:pPr>
            <a:r>
              <a:rPr lang="en-US" sz="1772">
                <a:solidFill>
                  <a:srgbClr val="000000"/>
                </a:solidFill>
                <a:latin typeface="Canva Sans"/>
                <a:ea typeface="Canva Sans"/>
                <a:cs typeface="Canva Sans"/>
                <a:sym typeface="Canva Sans"/>
              </a:rPr>
              <a:t>When SNR is included, the situation changes dramatically. Both Random Forest and XGBoost achieve nearly perfect performance (R² &gt; 0.98 and RMSE &lt; 1.2 GHz), and their predictions align closely with the ideal line. SNR provides a physically meaningful feature that is strongly correlated with spectral separation, enabling accurate regression.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sp>
        <p:nvSpPr>
          <p:cNvPr name="TextBox 3" id="3"/>
          <p:cNvSpPr txBox="true"/>
          <p:nvPr/>
        </p:nvSpPr>
        <p:spPr>
          <a:xfrm rot="0">
            <a:off x="1028700" y="933450"/>
            <a:ext cx="5221885"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CONCLUSIONS</a:t>
            </a:r>
          </a:p>
        </p:txBody>
      </p:sp>
      <p:sp>
        <p:nvSpPr>
          <p:cNvPr name="TextBox 4" id="4"/>
          <p:cNvSpPr txBox="true"/>
          <p:nvPr/>
        </p:nvSpPr>
        <p:spPr>
          <a:xfrm rot="0">
            <a:off x="1028700" y="2462570"/>
            <a:ext cx="16022669" cy="4399576"/>
          </a:xfrm>
          <a:prstGeom prst="rect">
            <a:avLst/>
          </a:prstGeom>
        </p:spPr>
        <p:txBody>
          <a:bodyPr anchor="t" rtlCol="false" tIns="0" lIns="0" bIns="0" rIns="0">
            <a:spAutoFit/>
          </a:bodyPr>
          <a:lstStyle/>
          <a:p>
            <a:pPr algn="just" marL="423887" indent="-211944" lvl="1">
              <a:lnSpc>
                <a:spcPts val="2748"/>
              </a:lnSpc>
              <a:buFont typeface="Arial"/>
              <a:buChar char="•"/>
            </a:pPr>
            <a:r>
              <a:rPr lang="en-US" sz="1963">
                <a:solidFill>
                  <a:srgbClr val="000000"/>
                </a:solidFill>
                <a:latin typeface="Canva Sans"/>
                <a:ea typeface="Canva Sans"/>
                <a:cs typeface="Canva Sans"/>
                <a:sym typeface="Canva Sans"/>
              </a:rPr>
              <a:t>Despite the challenges of class imbalance, the proposed method is able to reliably distinguish between ICI and No-ICI. When the SNR feature is included, all models achieve perfect detection of ICI (Recall = 1.0), and the ability to identify No-ICI improves substantially—up to 0.675 in the SVM model. This confirms that the approach effectively captures the underlying patterns needed to discriminate both conditions.</a:t>
            </a:r>
          </a:p>
          <a:p>
            <a:pPr algn="just">
              <a:lnSpc>
                <a:spcPts val="2748"/>
              </a:lnSpc>
            </a:pPr>
          </a:p>
          <a:p>
            <a:pPr algn="just" marL="423887" indent="-211944" lvl="1">
              <a:lnSpc>
                <a:spcPts val="2748"/>
              </a:lnSpc>
              <a:buFont typeface="Arial"/>
              <a:buChar char="•"/>
            </a:pPr>
            <a:r>
              <a:rPr lang="en-US" sz="1963">
                <a:solidFill>
                  <a:srgbClr val="000000"/>
                </a:solidFill>
                <a:latin typeface="Canva Sans"/>
                <a:ea typeface="Canva Sans"/>
                <a:cs typeface="Canva Sans"/>
                <a:sym typeface="Canva Sans"/>
              </a:rPr>
              <a:t>The inclusion of SNR not only improves classification but also leads to major gains in bandwidth estimation. Regression performance increases dramatically, with RMSE dropping from ~5 GHz to below 1 GHz in tree-based models, and R² rising from &lt;0.20 to above 0.98. These improvements indicate that SNR provides essential information for accurately modeling ICI-related spectral behavior.</a:t>
            </a:r>
          </a:p>
          <a:p>
            <a:pPr algn="just">
              <a:lnSpc>
                <a:spcPts val="2748"/>
              </a:lnSpc>
            </a:pPr>
          </a:p>
          <a:p>
            <a:pPr algn="just" marL="402296" indent="-201148" lvl="1">
              <a:lnSpc>
                <a:spcPts val="2608"/>
              </a:lnSpc>
              <a:spcBef>
                <a:spcPct val="0"/>
              </a:spcBef>
              <a:buFont typeface="Arial"/>
              <a:buChar char="•"/>
            </a:pPr>
            <a:r>
              <a:rPr lang="en-US" sz="1863">
                <a:solidFill>
                  <a:srgbClr val="000000"/>
                </a:solidFill>
                <a:latin typeface="Canva Sans"/>
                <a:ea typeface="Canva Sans"/>
                <a:cs typeface="Canva Sans"/>
                <a:sym typeface="Canva Sans"/>
              </a:rPr>
              <a:t>Across both classification and regression tasks, models enhanced with SNR consistently outperform their counterparts without it. For instance, XGBoost achieves an R² of 0.9945 and MAE of only 0.53 GHz, demonstrating near-perfect bandwidth prediction. This consistency across methods confirms that the proposed pipeline is robust and generalizes well to ICI-related signal characterization.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sp>
        <p:nvSpPr>
          <p:cNvPr name="Freeform 3" id="3"/>
          <p:cNvSpPr/>
          <p:nvPr/>
        </p:nvSpPr>
        <p:spPr>
          <a:xfrm flipH="false" flipV="false" rot="0">
            <a:off x="1778895" y="2482510"/>
            <a:ext cx="3894131" cy="5321979"/>
          </a:xfrm>
          <a:custGeom>
            <a:avLst/>
            <a:gdLst/>
            <a:ahLst/>
            <a:cxnLst/>
            <a:rect r="r" b="b" t="t" l="l"/>
            <a:pathLst>
              <a:path h="5321979" w="3894131">
                <a:moveTo>
                  <a:pt x="0" y="0"/>
                </a:moveTo>
                <a:lnTo>
                  <a:pt x="3894131" y="0"/>
                </a:lnTo>
                <a:lnTo>
                  <a:pt x="3894131" y="5321980"/>
                </a:lnTo>
                <a:lnTo>
                  <a:pt x="0" y="5321980"/>
                </a:lnTo>
                <a:lnTo>
                  <a:pt x="0" y="0"/>
                </a:lnTo>
                <a:close/>
              </a:path>
            </a:pathLst>
          </a:custGeom>
          <a:blipFill>
            <a:blip r:embed="rId3"/>
            <a:stretch>
              <a:fillRect l="0" t="0" r="0" b="0"/>
            </a:stretch>
          </a:blipFill>
        </p:spPr>
      </p:sp>
      <p:sp>
        <p:nvSpPr>
          <p:cNvPr name="TextBox 4" id="4"/>
          <p:cNvSpPr txBox="true"/>
          <p:nvPr/>
        </p:nvSpPr>
        <p:spPr>
          <a:xfrm rot="0">
            <a:off x="1028700" y="933450"/>
            <a:ext cx="5221885"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Questions?</a:t>
            </a:r>
          </a:p>
        </p:txBody>
      </p:sp>
      <p:sp>
        <p:nvSpPr>
          <p:cNvPr name="TextBox 5" id="5"/>
          <p:cNvSpPr txBox="true"/>
          <p:nvPr/>
        </p:nvSpPr>
        <p:spPr>
          <a:xfrm rot="0">
            <a:off x="1367327" y="6159253"/>
            <a:ext cx="16022669" cy="345418"/>
          </a:xfrm>
          <a:prstGeom prst="rect">
            <a:avLst/>
          </a:prstGeom>
        </p:spPr>
        <p:txBody>
          <a:bodyPr anchor="t" rtlCol="false" tIns="0" lIns="0" bIns="0" rIns="0">
            <a:spAutoFit/>
          </a:bodyPr>
          <a:lstStyle/>
          <a:p>
            <a:pPr algn="just" marL="423887" indent="-211944" lvl="1">
              <a:lnSpc>
                <a:spcPts val="2748"/>
              </a:lnSpc>
              <a:spcBef>
                <a:spcPct val="0"/>
              </a:spcBef>
              <a:buFont typeface="Arial"/>
              <a:buChar char="•"/>
            </a:pPr>
          </a:p>
        </p:txBody>
      </p:sp>
      <p:sp>
        <p:nvSpPr>
          <p:cNvPr name="TextBox 6" id="6"/>
          <p:cNvSpPr txBox="true"/>
          <p:nvPr/>
        </p:nvSpPr>
        <p:spPr>
          <a:xfrm rot="0">
            <a:off x="8890029" y="1991338"/>
            <a:ext cx="5221885"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THANK YOU</a:t>
            </a:r>
          </a:p>
        </p:txBody>
      </p:sp>
      <p:sp>
        <p:nvSpPr>
          <p:cNvPr name="TextBox 7" id="7"/>
          <p:cNvSpPr txBox="true"/>
          <p:nvPr/>
        </p:nvSpPr>
        <p:spPr>
          <a:xfrm rot="0">
            <a:off x="8470703" y="3484220"/>
            <a:ext cx="7275762" cy="3270935"/>
          </a:xfrm>
          <a:prstGeom prst="rect">
            <a:avLst/>
          </a:prstGeom>
        </p:spPr>
        <p:txBody>
          <a:bodyPr anchor="t" rtlCol="false" tIns="0" lIns="0" bIns="0" rIns="0">
            <a:spAutoFit/>
          </a:bodyPr>
          <a:lstStyle/>
          <a:p>
            <a:pPr algn="l" marL="565870" indent="-282935" lvl="1">
              <a:lnSpc>
                <a:spcPts val="3669"/>
              </a:lnSpc>
              <a:buFont typeface="Arial"/>
              <a:buChar char="•"/>
            </a:pPr>
            <a:r>
              <a:rPr lang="en-US" sz="2620">
                <a:solidFill>
                  <a:srgbClr val="000000"/>
                </a:solidFill>
                <a:latin typeface="Canva Sans"/>
                <a:ea typeface="Canva Sans"/>
                <a:cs typeface="Canva Sans"/>
                <a:sym typeface="Canva Sans"/>
              </a:rPr>
              <a:t>B.Sc. Valentina Restrepo Jaramillo</a:t>
            </a:r>
          </a:p>
          <a:p>
            <a:pPr algn="l" marL="1131741" indent="-377247" lvl="2">
              <a:lnSpc>
                <a:spcPts val="3669"/>
              </a:lnSpc>
              <a:buFont typeface="Arial"/>
              <a:buChar char="⚬"/>
            </a:pPr>
            <a:r>
              <a:rPr lang="en-US" sz="2620">
                <a:solidFill>
                  <a:srgbClr val="000000"/>
                </a:solidFill>
                <a:latin typeface="Canva Sans"/>
                <a:ea typeface="Canva Sans"/>
                <a:cs typeface="Canva Sans"/>
                <a:sym typeface="Canva Sans"/>
              </a:rPr>
              <a:t>valentina.restrepo@udea.edu.co</a:t>
            </a:r>
          </a:p>
          <a:p>
            <a:pPr algn="l" marL="565870" indent="-282935" lvl="1">
              <a:lnSpc>
                <a:spcPts val="3669"/>
              </a:lnSpc>
              <a:buFont typeface="Arial"/>
              <a:buChar char="•"/>
            </a:pPr>
            <a:r>
              <a:rPr lang="en-US" sz="2620">
                <a:solidFill>
                  <a:srgbClr val="000000"/>
                </a:solidFill>
                <a:latin typeface="Canva Sans"/>
                <a:ea typeface="Canva Sans"/>
                <a:cs typeface="Canva Sans"/>
                <a:sym typeface="Canva Sans"/>
              </a:rPr>
              <a:t>B.Sc. Julián Mauricio Sánchez Ceballos</a:t>
            </a:r>
          </a:p>
          <a:p>
            <a:pPr algn="l" marL="1131741" indent="-377247" lvl="2">
              <a:lnSpc>
                <a:spcPts val="3669"/>
              </a:lnSpc>
              <a:buFont typeface="Arial"/>
              <a:buChar char="⚬"/>
            </a:pPr>
            <a:r>
              <a:rPr lang="en-US" sz="2620">
                <a:solidFill>
                  <a:srgbClr val="000000"/>
                </a:solidFill>
                <a:latin typeface="Canva Sans"/>
                <a:ea typeface="Canva Sans"/>
                <a:cs typeface="Canva Sans"/>
                <a:sym typeface="Canva Sans"/>
              </a:rPr>
              <a:t>julian.sanchez6@udea.edu.co</a:t>
            </a:r>
          </a:p>
          <a:p>
            <a:pPr algn="l" marL="565870" indent="-282935" lvl="1">
              <a:lnSpc>
                <a:spcPts val="3669"/>
              </a:lnSpc>
              <a:buFont typeface="Arial"/>
              <a:buChar char="•"/>
            </a:pPr>
            <a:r>
              <a:rPr lang="en-US" sz="2620">
                <a:solidFill>
                  <a:srgbClr val="000000"/>
                </a:solidFill>
                <a:latin typeface="Canva Sans"/>
                <a:ea typeface="Canva Sans"/>
                <a:cs typeface="Canva Sans"/>
                <a:sym typeface="Canva Sans"/>
              </a:rPr>
              <a:t>Prof. Jhon James Granada</a:t>
            </a:r>
          </a:p>
          <a:p>
            <a:pPr algn="l" marL="1131741" indent="-377247" lvl="2">
              <a:lnSpc>
                <a:spcPts val="3669"/>
              </a:lnSpc>
              <a:buFont typeface="Arial"/>
              <a:buChar char="⚬"/>
            </a:pPr>
            <a:r>
              <a:rPr lang="en-US" sz="2620">
                <a:solidFill>
                  <a:srgbClr val="000000"/>
                </a:solidFill>
                <a:latin typeface="Canva Sans"/>
                <a:ea typeface="Canva Sans"/>
                <a:cs typeface="Canva Sans"/>
                <a:sym typeface="Canva Sans"/>
              </a:rPr>
              <a:t>jhon.granada@udea.edu.co</a:t>
            </a:r>
          </a:p>
          <a:p>
            <a:pPr algn="l">
              <a:lnSpc>
                <a:spcPts val="4329"/>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sp>
        <p:nvSpPr>
          <p:cNvPr name="TextBox 3" id="3"/>
          <p:cNvSpPr txBox="true"/>
          <p:nvPr/>
        </p:nvSpPr>
        <p:spPr>
          <a:xfrm rot="0">
            <a:off x="1028700" y="933450"/>
            <a:ext cx="5221885"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FUTURE WORK</a:t>
            </a:r>
          </a:p>
        </p:txBody>
      </p:sp>
      <p:sp>
        <p:nvSpPr>
          <p:cNvPr name="TextBox 4" id="4"/>
          <p:cNvSpPr txBox="true"/>
          <p:nvPr/>
        </p:nvSpPr>
        <p:spPr>
          <a:xfrm rot="0">
            <a:off x="1028700" y="2462570"/>
            <a:ext cx="16022669" cy="1712256"/>
          </a:xfrm>
          <a:prstGeom prst="rect">
            <a:avLst/>
          </a:prstGeom>
        </p:spPr>
        <p:txBody>
          <a:bodyPr anchor="t" rtlCol="false" tIns="0" lIns="0" bIns="0" rIns="0">
            <a:spAutoFit/>
          </a:bodyPr>
          <a:lstStyle/>
          <a:p>
            <a:pPr algn="just" marL="423887" indent="-211944" lvl="1">
              <a:lnSpc>
                <a:spcPts val="2748"/>
              </a:lnSpc>
              <a:buFont typeface="Arial"/>
              <a:buChar char="•"/>
            </a:pPr>
            <a:r>
              <a:rPr lang="en-US" sz="1963">
                <a:solidFill>
                  <a:srgbClr val="000000"/>
                </a:solidFill>
                <a:latin typeface="Canva Sans"/>
                <a:ea typeface="Canva Sans"/>
                <a:cs typeface="Canva Sans"/>
                <a:sym typeface="Canva Sans"/>
              </a:rPr>
              <a:t>Extension to Larger and More Diverse Datasets</a:t>
            </a:r>
          </a:p>
          <a:p>
            <a:pPr algn="just">
              <a:lnSpc>
                <a:spcPts val="2748"/>
              </a:lnSpc>
            </a:pPr>
          </a:p>
          <a:p>
            <a:pPr algn="just" marL="423887" indent="-211944" lvl="1">
              <a:lnSpc>
                <a:spcPts val="2748"/>
              </a:lnSpc>
              <a:buFont typeface="Arial"/>
              <a:buChar char="•"/>
            </a:pPr>
            <a:r>
              <a:rPr lang="en-US" sz="1963">
                <a:solidFill>
                  <a:srgbClr val="000000"/>
                </a:solidFill>
                <a:latin typeface="Canva Sans"/>
                <a:ea typeface="Canva Sans"/>
                <a:cs typeface="Canva Sans"/>
                <a:sym typeface="Canva Sans"/>
              </a:rPr>
              <a:t>Integration of Temporal and Frequency-Domain Features</a:t>
            </a:r>
          </a:p>
          <a:p>
            <a:pPr algn="just">
              <a:lnSpc>
                <a:spcPts val="2748"/>
              </a:lnSpc>
            </a:pPr>
          </a:p>
          <a:p>
            <a:pPr algn="just" marL="423887" indent="-211944" lvl="1">
              <a:lnSpc>
                <a:spcPts val="2748"/>
              </a:lnSpc>
              <a:spcBef>
                <a:spcPct val="0"/>
              </a:spcBef>
              <a:buFont typeface="Arial"/>
              <a:buChar char="•"/>
            </a:pPr>
            <a:r>
              <a:rPr lang="en-US" sz="1963">
                <a:solidFill>
                  <a:srgbClr val="000000"/>
                </a:solidFill>
                <a:latin typeface="Canva Sans"/>
                <a:ea typeface="Canva Sans"/>
                <a:cs typeface="Canva Sans"/>
                <a:sym typeface="Canva Sans"/>
              </a:rPr>
              <a:t>Real-Time Implementation and Evaluation in Hardware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717199"/>
            <a:ext cx="18288000" cy="1569801"/>
          </a:xfrm>
          <a:custGeom>
            <a:avLst/>
            <a:gdLst/>
            <a:ahLst/>
            <a:cxnLst/>
            <a:rect r="r" b="b" t="t" l="l"/>
            <a:pathLst>
              <a:path h="1569801" w="18288000">
                <a:moveTo>
                  <a:pt x="0" y="0"/>
                </a:moveTo>
                <a:lnTo>
                  <a:pt x="18288000" y="0"/>
                </a:lnTo>
                <a:lnTo>
                  <a:pt x="18288000" y="1569801"/>
                </a:lnTo>
                <a:lnTo>
                  <a:pt x="0" y="1569801"/>
                </a:lnTo>
                <a:lnTo>
                  <a:pt x="0" y="0"/>
                </a:lnTo>
                <a:close/>
              </a:path>
            </a:pathLst>
          </a:custGeom>
          <a:blipFill>
            <a:blip r:embed="rId2"/>
            <a:stretch>
              <a:fillRect l="0" t="-61553" r="0" b="-35038"/>
            </a:stretch>
          </a:blipFill>
        </p:spPr>
      </p:sp>
      <p:sp>
        <p:nvSpPr>
          <p:cNvPr name="TextBox 3" id="3"/>
          <p:cNvSpPr txBox="true"/>
          <p:nvPr/>
        </p:nvSpPr>
        <p:spPr>
          <a:xfrm rot="0">
            <a:off x="1028700" y="933450"/>
            <a:ext cx="5221885" cy="887095"/>
          </a:xfrm>
          <a:prstGeom prst="rect">
            <a:avLst/>
          </a:prstGeom>
        </p:spPr>
        <p:txBody>
          <a:bodyPr anchor="t" rtlCol="false" tIns="0" lIns="0" bIns="0" rIns="0">
            <a:spAutoFit/>
          </a:bodyPr>
          <a:lstStyle/>
          <a:p>
            <a:pPr algn="ctr">
              <a:lnSpc>
                <a:spcPts val="7279"/>
              </a:lnSpc>
            </a:pPr>
            <a:r>
              <a:rPr lang="en-US" sz="5199" b="true">
                <a:solidFill>
                  <a:srgbClr val="00167A"/>
                </a:solidFill>
                <a:latin typeface="Canva Sans Bold"/>
                <a:ea typeface="Canva Sans Bold"/>
                <a:cs typeface="Canva Sans Bold"/>
                <a:sym typeface="Canva Sans Bold"/>
              </a:rPr>
              <a:t>BIBLIOGRAPHY</a:t>
            </a:r>
          </a:p>
        </p:txBody>
      </p:sp>
      <p:sp>
        <p:nvSpPr>
          <p:cNvPr name="TextBox 4" id="4"/>
          <p:cNvSpPr txBox="true"/>
          <p:nvPr/>
        </p:nvSpPr>
        <p:spPr>
          <a:xfrm rot="0">
            <a:off x="1028700" y="2462570"/>
            <a:ext cx="16022669" cy="2740956"/>
          </a:xfrm>
          <a:prstGeom prst="rect">
            <a:avLst/>
          </a:prstGeom>
        </p:spPr>
        <p:txBody>
          <a:bodyPr anchor="t" rtlCol="false" tIns="0" lIns="0" bIns="0" rIns="0">
            <a:spAutoFit/>
          </a:bodyPr>
          <a:lstStyle/>
          <a:p>
            <a:pPr algn="just">
              <a:lnSpc>
                <a:spcPts val="2748"/>
              </a:lnSpc>
            </a:pPr>
            <a:r>
              <a:rPr lang="en-US" sz="1963">
                <a:solidFill>
                  <a:srgbClr val="000000"/>
                </a:solidFill>
                <a:latin typeface="Canva Sans"/>
                <a:ea typeface="Canva Sans"/>
                <a:cs typeface="Canva Sans"/>
                <a:sym typeface="Canva Sans"/>
              </a:rPr>
              <a:t>[1] C. A. Montoya Ocampo et al. , “Estimation of Spectral Spacing in Gridless Nyquist-WDM Systems Using Fuzzy Clustering and Deep Learning,” Universidad de Antioquia, GITA Lab, Medellín, Colombia, 2024</a:t>
            </a:r>
          </a:p>
          <a:p>
            <a:pPr algn="just">
              <a:lnSpc>
                <a:spcPts val="2748"/>
              </a:lnSpc>
            </a:pPr>
          </a:p>
          <a:p>
            <a:pPr algn="just">
              <a:lnSpc>
                <a:spcPts val="2748"/>
              </a:lnSpc>
            </a:pPr>
            <a:r>
              <a:rPr lang="en-US" sz="1963">
                <a:solidFill>
                  <a:srgbClr val="000000"/>
                </a:solidFill>
                <a:latin typeface="Canva Sans"/>
                <a:ea typeface="Canva Sans"/>
                <a:cs typeface="Canva Sans"/>
                <a:sym typeface="Canva Sans"/>
              </a:rPr>
              <a:t>[2] W. Sun, et al. , “Efficient Recognition for MQAM Signal Using Feature Extraction,” School of Information and Communication Engineering, University of Electronic Science and Technology of China, Chengdu, China, 2024.</a:t>
            </a:r>
          </a:p>
          <a:p>
            <a:pPr algn="just">
              <a:lnSpc>
                <a:spcPts val="2748"/>
              </a:lnSpc>
            </a:pPr>
          </a:p>
          <a:p>
            <a:pPr algn="just">
              <a:lnSpc>
                <a:spcPts val="2748"/>
              </a:lnSpc>
              <a:spcBef>
                <a:spcPct val="0"/>
              </a:spcBef>
            </a:pPr>
            <a:r>
              <a:rPr lang="en-US" sz="1963">
                <a:solidFill>
                  <a:srgbClr val="000000"/>
                </a:solidFill>
                <a:latin typeface="Canva Sans"/>
                <a:ea typeface="Canva Sans"/>
                <a:cs typeface="Canva Sans"/>
                <a:sym typeface="Canva Sans"/>
              </a:rPr>
              <a:t>[3] K. D. Martínez Zapata et al, “Estimation of spectral spacing and linear ICI effects using IQ constellation images and CNN in gridless WDM systems,” Univ. of Antioquia, GITA Lab, Medell´ın, Colombia, Jan.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DAG3rm9MlxU</dc:identifier>
  <dcterms:modified xsi:type="dcterms:W3CDTF">2011-08-01T06:04:30Z</dcterms:modified>
  <cp:revision>1</cp:revision>
  <dc:title>PACD - Presentación</dc:title>
</cp:coreProperties>
</file>